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2011680"/>
            <a:ext cx="137160" cy="2926080"/>
          </a:xfrm>
          <a:prstGeom prst="rect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1920240"/>
            <a:ext cx="9601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LMS DATA ARCHITECTURE &amp; SYSTEM FLOW</a:t>
            </a:r>
          </a:p>
          <a:p>
            <a:pPr>
              <a:spcBef>
                <a:spcPts val="1200"/>
              </a:spcBef>
              <a:defRPr sz="1900">
                <a:solidFill>
                  <a:srgbClr val="F59E0B"/>
                </a:solidFill>
                <a:latin typeface="Calibri"/>
              </a:defRPr>
            </a:pPr>
            <a:r>
              <a:t>End-to-End Business Pipeline, ER Table Connections &amp; 22-Table Schema for Data Analytics</a:t>
            </a:r>
          </a:p>
          <a:p>
            <a:pPr>
              <a:spcBef>
                <a:spcPts val="2400"/>
              </a:spcBef>
              <a:defRPr sz="1400">
                <a:solidFill>
                  <a:srgbClr val="94A3B8"/>
                </a:solidFill>
                <a:latin typeface="Calibri"/>
              </a:defRPr>
            </a:pPr>
            <a:r>
              <a:t>Target Audience: Data Analytics &amp; Engineering Students | System: AppTechno LMS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Calibri"/>
              </a:defRPr>
            </a:pPr>
            <a:r>
              <a:t>1. Executive Summary &amp; EdTech Data Analytics</a:t>
            </a:r>
          </a:p>
          <a:p>
            <a:pPr>
              <a:defRPr sz="1300">
                <a:solidFill>
                  <a:srgbClr val="F59E0B"/>
                </a:solidFill>
                <a:latin typeface="Calibri"/>
              </a:defRPr>
            </a:pPr>
            <a:r>
              <a:t>Why Data Analytics Students Need to Understand LMS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4754879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0066FF"/>
                </a:solidFill>
                <a:latin typeface="Calibri"/>
              </a:defRPr>
            </a:pPr>
            <a:r>
              <a:t>🎯 Purpose of an Enterprise LMS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Automates the complete student lifecycle from initial inquiry to job placement.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Generates multi-dimensional business data across marketing, finance, academics, and recruitment.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Provides real-world datasets ideal for building Business Intelligence (BI) dashboards.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Requires scalable relational database schemas to ensure transactional consistency.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00200"/>
            <a:ext cx="4754879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F59E0B"/>
                </a:solidFill>
                <a:latin typeface="Calibri"/>
              </a:defRPr>
            </a:pPr>
            <a:r>
              <a:t>📈 Key Data Analytics Domain Scope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Marketing &amp; Sales Funnel: Prospect conversion &amp; marketing ROI.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Financial Analytics: Revenue realization &amp; fee collection efficiency.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Academic &amp; Engagement: Attendance tracking &amp; churn prediction.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Evaluation Analytics: Exam performance &amp; weekly trainer feedback.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Career Analytics: Mock interview readiness &amp; placement conversion.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Calibri"/>
              </a:defRPr>
            </a:pPr>
            <a:r>
              <a:t>2. End-to-End Student Lifecycle Data Pipeline</a:t>
            </a:r>
          </a:p>
          <a:p>
            <a:pPr>
              <a:defRPr sz="1300">
                <a:solidFill>
                  <a:srgbClr val="F59E0B"/>
                </a:solidFill>
                <a:latin typeface="Calibri"/>
              </a:defRPr>
            </a:pPr>
            <a:r>
              <a:t>5 Key Phases of Data Generation in an Enterprise LMS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20116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1645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0066FF"/>
                </a:solidFill>
                <a:latin typeface="Calibri"/>
              </a:defRPr>
            </a:pPr>
            <a:r>
              <a:t>Phase 1: Marketing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Lead capture from Ads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Call/Email logs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Lead to Student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26080" y="1463040"/>
            <a:ext cx="20116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0" y="1600200"/>
            <a:ext cx="1645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F59E0B"/>
                </a:solidFill>
                <a:latin typeface="Calibri"/>
              </a:defRPr>
            </a:pPr>
            <a:r>
              <a:t>Phase 2: Finance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Course/Batch selection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Tuition fee tracking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Receipt &amp; verification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20640" y="1463040"/>
            <a:ext cx="20116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0" y="1600200"/>
            <a:ext cx="1645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0B981"/>
                </a:solidFill>
                <a:latin typeface="Calibri"/>
              </a:defRPr>
            </a:pPr>
            <a:r>
              <a:t>Phase 3: Operations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Daily QR attendance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Portal time logs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Leave quota audit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1463040"/>
            <a:ext cx="20116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0" y="1600200"/>
            <a:ext cx="1645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0066FF"/>
                </a:solidFill>
                <a:latin typeface="Calibri"/>
              </a:defRPr>
            </a:pPr>
            <a:r>
              <a:t>Phase 4: Learning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Project/Task ticketing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Video lecture views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Tests &amp; feedback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509760" y="1463040"/>
            <a:ext cx="20116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0" y="1600200"/>
            <a:ext cx="1645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F59E0B"/>
                </a:solidFill>
                <a:latin typeface="Calibri"/>
              </a:defRPr>
            </a:pPr>
            <a:r>
              <a:t>Phase 5: Placement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Mock interview scores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Verbal drills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Job application funnel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Calibri"/>
              </a:defRPr>
            </a:pPr>
            <a:r>
              <a:t>3. System Roles &amp; Access Matrix</a:t>
            </a:r>
          </a:p>
          <a:p>
            <a:pPr>
              <a:defRPr sz="1300">
                <a:solidFill>
                  <a:srgbClr val="F59E0B"/>
                </a:solidFill>
                <a:latin typeface="Calibri"/>
              </a:defRPr>
            </a:pPr>
            <a:r>
              <a:t>Role-Based Access Control (RBAC) &amp; Data Access Boundaries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728655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103327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066FF"/>
                </a:solidFill>
                <a:latin typeface="Calibri"/>
              </a:defRPr>
            </a:pPr>
            <a:r>
              <a:t>SUPER_ADMIN / ADMIN</a:t>
            </a:r>
          </a:p>
          <a:p>
            <a:pPr>
              <a:defRPr sz="1300">
                <a:solidFill>
                  <a:srgbClr val="1E293B"/>
                </a:solidFill>
                <a:latin typeface="Calibri"/>
              </a:defRPr>
            </a:pPr>
            <a:r>
              <a:t>Full system governance, course/batch creation, fee setup, leave approvals, user permissions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697480"/>
            <a:ext cx="10728655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103327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0B981"/>
                </a:solidFill>
                <a:latin typeface="Calibri"/>
              </a:defRPr>
            </a:pPr>
            <a:r>
              <a:t>TRAINER</a:t>
            </a:r>
          </a:p>
          <a:p>
            <a:pPr>
              <a:defRPr sz="1300">
                <a:solidFill>
                  <a:srgbClr val="1E293B"/>
                </a:solidFill>
                <a:latin typeface="Calibri"/>
              </a:defRPr>
            </a:pPr>
            <a:r>
              <a:t>Batch management, project/task assignment, attendance tracking, assessment grading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10728655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069080"/>
            <a:ext cx="103327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59E0B"/>
                </a:solidFill>
                <a:latin typeface="Calibri"/>
              </a:defRPr>
            </a:pPr>
            <a:r>
              <a:t>MARKETER</a:t>
            </a:r>
          </a:p>
          <a:p>
            <a:pPr>
              <a:defRPr sz="1300">
                <a:solidFill>
                  <a:srgbClr val="1E293B"/>
                </a:solidFill>
                <a:latin typeface="Calibri"/>
              </a:defRPr>
            </a:pPr>
            <a:r>
              <a:t>Lead generation, prospect follow-ups (Calls/Emails/WhatsApp), registration conversion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166360"/>
            <a:ext cx="10728655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303520"/>
            <a:ext cx="103327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066FF"/>
                </a:solidFill>
                <a:latin typeface="Calibri"/>
              </a:defRPr>
            </a:pPr>
            <a:r>
              <a:t>STUDENT</a:t>
            </a:r>
          </a:p>
          <a:p>
            <a:pPr>
              <a:defRPr sz="1300">
                <a:solidFill>
                  <a:srgbClr val="1E293B"/>
                </a:solidFill>
                <a:latin typeface="Calibri"/>
              </a:defRPr>
            </a:pPr>
            <a:r>
              <a:t>Class attendance, portal time logging, assignment submissions, tests, job applications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Calibri"/>
              </a:defRPr>
            </a:pPr>
            <a:r>
              <a:t>4. Central Table Connection Architecture</a:t>
            </a:r>
          </a:p>
          <a:p>
            <a:pPr>
              <a:defRPr sz="1300">
                <a:solidFill>
                  <a:srgbClr val="F59E0B"/>
                </a:solidFill>
                <a:latin typeface="Calibri"/>
              </a:defRPr>
            </a:pPr>
            <a:r>
              <a:t>The 3 Primary Hub Entities Connecting All 22 System Tables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2918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2926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0066FF"/>
                </a:solidFill>
                <a:latin typeface="Calibri"/>
              </a:defRPr>
            </a:pPr>
            <a:r>
              <a:t>👤 HUB 1: 'users' Table</a:t>
            </a:r>
            <a:br/>
            <a:r>
              <a:t>(Central Entity)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admin_permissions (1:1)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batch_students (1:N)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registrations (1:N)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documents (1:N)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attendance (1:N)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leave_requests (1:N)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time_tracking (1:N)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tasks (1:N)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assessment_submissions (1:N)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feedback (1:N)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leads &amp; lead_activities (1:N)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job_applications (1:N)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mock_interviews (1:N)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communication_practice (1:N)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notifications &amp; messages (1:N)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43984" y="1463040"/>
            <a:ext cx="32918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26864" y="1600200"/>
            <a:ext cx="2926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0B981"/>
                </a:solidFill>
                <a:latin typeface="Calibri"/>
              </a:defRPr>
            </a:pPr>
            <a:r>
              <a:t>👥 HUB 2: 'batches' Table</a:t>
            </a:r>
            <a:br/>
            <a:r>
              <a:t>(Academic Cohort Hub)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courses (N:1 -&gt; courseId)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users (N:1 -&gt; trainerId)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batch_students (1:N)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registrations (1:N)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attendance (1:N)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leave_requests (1:N)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projects (1:N)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videos (1:N)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feedback (1:N)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65592" y="1463040"/>
            <a:ext cx="32918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48471" y="1600200"/>
            <a:ext cx="2926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F59E0B"/>
                </a:solidFill>
                <a:latin typeface="Calibri"/>
              </a:defRPr>
            </a:pPr>
            <a:r>
              <a:t>📚 HUB 3: 'courses' &amp; Sub-Hubs</a:t>
            </a:r>
            <a:br/>
            <a:r>
              <a:t>(Catalog &amp; Core Sub-Entities)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courses -&gt; batches (1:N)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courses -&gt; registrations (1:N)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courses -&gt; assessments (1:N)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projects -&gt; tasks (1:N)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leads -&gt; lead_activities (1:N)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assessments -&gt; submissions (1:N)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jobs -&gt; job_applications (1:N)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Calibri"/>
              </a:defRPr>
            </a:pPr>
            <a:r>
              <a:t>5. Complete Foreign Key (FK) Connection Map</a:t>
            </a:r>
          </a:p>
          <a:p>
            <a:pPr>
              <a:defRPr sz="1300">
                <a:solidFill>
                  <a:srgbClr val="F59E0B"/>
                </a:solidFill>
                <a:latin typeface="Calibri"/>
              </a:defRPr>
            </a:pPr>
            <a:r>
              <a:t>Explicit Mapping of All Foreign Keys Across All 22 Database Tables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10728655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3200400"/>
                <a:gridCol w="4967935"/>
              </a:tblGrid>
              <a:tr h="448887"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Child Table (FK Owner)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Foreign Key (FK Column)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Referenced Parent Table &amp; Key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admin_permissions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userId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users.id (1:1 cascade delete)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batches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courseId, trainerId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courses.id, users.id (Trainer)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batch_students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batchId, studentId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batches.id, users.id (Enrollment junction)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leads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assignedToId, createdById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users.id (Marketer / Creator)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lead_activities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leadId, userId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leads.id, users.id (Touchpoint logs)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registrations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studentId, courseId, batchId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users.id, courses.id, batches.id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attendance &amp; leaves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studentId/userId, batchId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users.id, batches.id (Daily ops &amp; approvals)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tasks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projectId, studentId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projects.id, users.id (Task ticketing)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assessment_submissions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assessmentId, studentId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assessments.id, users.id (Exam scores)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889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job_applications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jobId, studentId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jobs.id, users.id (Recruitment funnel)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Calibri"/>
              </a:defRPr>
            </a:pPr>
            <a:r>
              <a:t>6. Relational Database Schema (Part 1: Core, Marketing, Finance)</a:t>
            </a:r>
          </a:p>
          <a:p>
            <a:pPr>
              <a:defRPr sz="1300">
                <a:solidFill>
                  <a:srgbClr val="F59E0B"/>
                </a:solidFill>
                <a:latin typeface="Calibri"/>
              </a:defRPr>
            </a:pPr>
            <a:r>
              <a:t>22 Tables Grouped into Functional Modules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4754879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0066FF"/>
                </a:solidFill>
                <a:latin typeface="Calibri"/>
              </a:defRPr>
            </a:pPr>
            <a:r>
              <a:t>Module A: Users &amp; RBAC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users: Account master (email, role, phone, studentId)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admin_permissions: Granular administrative flags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12064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00200"/>
            <a:ext cx="4754879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F59E0B"/>
                </a:solidFill>
                <a:latin typeface="Calibri"/>
              </a:defRPr>
            </a:pPr>
            <a:r>
              <a:t>Module B: Courses &amp; Batches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courses: Master course catalog &amp; base tuition fees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batches: Academic cohorts, schedules &amp; trainer assignment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batch_students: Junction table mapping student enrollments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512064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069080"/>
            <a:ext cx="4754879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0B981"/>
                </a:solidFill>
                <a:latin typeface="Calibri"/>
              </a:defRPr>
            </a:pPr>
            <a:r>
              <a:t>Module C: Marketing Funnel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leads: Prospect pipeline (source, status, assignee)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lead_activities: Sales touchpoint log (calls, emails)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931920"/>
            <a:ext cx="512064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4069080"/>
            <a:ext cx="4754879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0066FF"/>
                </a:solidFill>
                <a:latin typeface="Calibri"/>
              </a:defRPr>
            </a:pPr>
            <a:r>
              <a:t>Module D: Finance &amp; Admissions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registrations: Fee tracking (feeAmount, feePaid, receipt)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documents: Student KYC uploads &amp; admin verification status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Calibri"/>
              </a:defRPr>
            </a:pPr>
            <a:r>
              <a:t>7. Relational Database Schema (Part 2: Ops, Academics, Career)</a:t>
            </a:r>
          </a:p>
          <a:p>
            <a:pPr>
              <a:defRPr sz="1300">
                <a:solidFill>
                  <a:srgbClr val="F59E0B"/>
                </a:solidFill>
                <a:latin typeface="Calibri"/>
              </a:defRPr>
            </a:pPr>
            <a:r>
              <a:t>Attendance, Evaluation &amp; Placement Modules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4754879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0066FF"/>
                </a:solidFill>
                <a:latin typeface="Calibri"/>
              </a:defRPr>
            </a:pPr>
            <a:r>
              <a:t>Module E: Attendance &amp; Time Logs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attendance: Daily class QR/Geo attendance records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leave_requests: Leave applications, proof URLs &amp; status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time_tracking: Lab portal active duration tracking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12064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00200"/>
            <a:ext cx="4754879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F59E0B"/>
                </a:solidFill>
                <a:latin typeface="Calibri"/>
              </a:defRPr>
            </a:pPr>
            <a:r>
              <a:t>Module F: Projects &amp; Content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projects: Capstone &amp; module projects per batch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tasks: Task tickets per student &amp; plagiarism flags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videos: Lecture recordings &amp; timeline chapters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512064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069080"/>
            <a:ext cx="4754879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0B981"/>
                </a:solidFill>
                <a:latin typeface="Calibri"/>
              </a:defRPr>
            </a:pPr>
            <a:r>
              <a:t>Module G: Evaluation Engine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assessments: Exam master (Coding &amp; Aptitude tests)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assessment_submissions: Student test scores &amp; answers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feedback: Weekly ratings for batch &amp; trainer performance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931920"/>
            <a:ext cx="512064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4069080"/>
            <a:ext cx="4754879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0066FF"/>
                </a:solidFill>
                <a:latin typeface="Calibri"/>
              </a:defRPr>
            </a:pPr>
            <a:r>
              <a:t>Module H: Placement &amp; Career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jobs: Corporate hiring drives &amp; salary packages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job_applications: Recruitment funnel stage tracking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mock_interviews &amp; communication_practice: Drill scores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Calibri"/>
              </a:defRPr>
            </a:pPr>
            <a:r>
              <a:t>8. Data Analytics Project 1: Lead Conversion Funnel</a:t>
            </a:r>
          </a:p>
          <a:p>
            <a:pPr>
              <a:defRPr sz="1300">
                <a:solidFill>
                  <a:srgbClr val="F59E0B"/>
                </a:solidFill>
                <a:latin typeface="Calibri"/>
              </a:defRPr>
            </a:pPr>
            <a:r>
              <a:t>Evaluating Marketing Channels &amp; Sales Productivity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4754879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0066FF"/>
                </a:solidFill>
                <a:latin typeface="Calibri"/>
              </a:defRPr>
            </a:pPr>
            <a:r>
              <a:t>📋 Project Specifications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Primary Tables: leads, lead_activities, registrations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Goal: Measure marketing ROI and sales conversion efficiency.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Analytical Focus: Tracking lead journeys from NEW to CONVERTED.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Business Impact: Optimizing marketing spend on high-performing channels.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00200"/>
            <a:ext cx="4754879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F59E0B"/>
                </a:solidFill>
                <a:latin typeface="Calibri"/>
              </a:defRPr>
            </a:pPr>
            <a:r>
              <a:t>💡 Key KPIs &amp; Analytics Questions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1. Lead Conversion Rate (LCR) by Source (Google Ads vs LinkedIn vs Referral).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2. Marketer Sales Productivity: Conversion % per assigned sales rep.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3. Average Touchpoints: Number of calls/emails needed before student registration.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4. Drop-off Analysis: High-loss stages in the marketing funnel.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Calibri"/>
              </a:defRPr>
            </a:pPr>
            <a:r>
              <a:t>9. Data Analytics Project 2: Student Churn Prediction</a:t>
            </a:r>
          </a:p>
          <a:p>
            <a:pPr>
              <a:defRPr sz="1300">
                <a:solidFill>
                  <a:srgbClr val="F59E0B"/>
                </a:solidFill>
                <a:latin typeface="Calibri"/>
              </a:defRPr>
            </a:pPr>
            <a:r>
              <a:t>Predictive Analytics for Academic Retention &amp; Early Intervention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4754879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0066FF"/>
                </a:solidFill>
                <a:latin typeface="Calibri"/>
              </a:defRPr>
            </a:pPr>
            <a:r>
              <a:t>📊 Metric Formulas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Attendance Percentage = (Count of PRESENT / Total Batch Days) * 100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Task Overdue Rate = (Count of OVERDUE Tasks / Total Assigned Tasks) * 100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Primary Tables: attendance, tasks, leave_requests, feedback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Goal: Identify at-risk students before course abandonment.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00200"/>
            <a:ext cx="4754879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0B981"/>
                </a:solidFill>
                <a:latin typeface="Calibri"/>
              </a:defRPr>
            </a:pPr>
            <a:r>
              <a:t>🎯 Churn Risk Rules &amp; Actions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High Risk Threshold: Attendance &lt; 75% AND Overdue Tasks &gt; 30%.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Early Warning Indicator: Consistently low weekly feedback rating (&lt; 3 stars).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Intervention Trigger: Automated alert to batch trainers and academic advisors.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Outcome: Increased course completion rate and student success.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Calibri"/>
              </a:defRPr>
            </a:pPr>
            <a:r>
              <a:t>10. Data Analytics Project 3: Revenue &amp; Fee Realization</a:t>
            </a:r>
          </a:p>
          <a:p>
            <a:pPr>
              <a:defRPr sz="1300">
                <a:solidFill>
                  <a:srgbClr val="F59E0B"/>
                </a:solidFill>
                <a:latin typeface="Calibri"/>
              </a:defRPr>
            </a:pPr>
            <a:r>
              <a:t>Financial Analytics &amp; Tuition Collection Efficiency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4754879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F59E0B"/>
                </a:solidFill>
                <a:latin typeface="Calibri"/>
              </a:defRPr>
            </a:pPr>
            <a:r>
              <a:t>💰 Revenue Metrics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Total Agreed Tuition Revenue = SUM(feeAmount)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Collected Cash Realization = SUM(feePaid)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Outstanding Fee Balance = SUM(feeAmount - feePaid)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Collection Efficiency % = (Total Fee Paid / Total Fee Amount) * 100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Primary Tables: registrations, courses, batches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00200"/>
            <a:ext cx="4754879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0066FF"/>
                </a:solidFill>
                <a:latin typeface="Calibri"/>
              </a:defRPr>
            </a:pPr>
            <a:r>
              <a:t>📈 BI Dashboard Questions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1. Which course generates the highest gross revenue per batch?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2. What is the total uncollected fee balance across active batches?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3. Fee payment delinquency trends by student enrollment month.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4. Revenue realization forecasting for upcoming batch end-dates.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Calibri"/>
              </a:defRPr>
            </a:pPr>
            <a:r>
              <a:t>11. Analytics Projects 4 &amp; 5: Quality &amp; Career Funnel</a:t>
            </a:r>
          </a:p>
          <a:p>
            <a:pPr>
              <a:defRPr sz="1300">
                <a:solidFill>
                  <a:srgbClr val="F59E0B"/>
                </a:solidFill>
                <a:latin typeface="Calibri"/>
              </a:defRPr>
            </a:pPr>
            <a:r>
              <a:t>Faculty Evaluation &amp; Job Placement Readiness Analytics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4754879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0B981"/>
                </a:solidFill>
                <a:latin typeface="Calibri"/>
              </a:defRPr>
            </a:pPr>
            <a:r>
              <a:t>⭐ Project 4: Trainer Satisfaction Index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Primary Tables: feedback, batches, users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Metric: Weekly 1 to 5 star rating average per trainer.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NLP Sentiment Analysis: Text mining qualitative comments in feedback.comments.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Goal: Ensuring consistent teaching quality across cohorts.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00200"/>
            <a:ext cx="4754879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F59E0B"/>
                </a:solidFill>
                <a:latin typeface="Calibri"/>
              </a:defRPr>
            </a:pPr>
            <a:r>
              <a:t>💼 Project 5: Placement Funnel Performance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Primary Tables: job_applications, jobs, mock_interviews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Metric: Correlation between Mock Score (&gt;80) and Job Selection.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Recruitment Funnel Conversion %: APPLIED -&gt; SHORTLISTED -&gt; INTERVIEW -&gt; SELECTED.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Goal: Maximizing corporate hiring rates for students.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Calibri"/>
              </a:defRPr>
            </a:pPr>
            <a:r>
              <a:t>12. Summary &amp; Key Takeaways for Students</a:t>
            </a:r>
          </a:p>
          <a:p>
            <a:pPr>
              <a:defRPr sz="1300">
                <a:solidFill>
                  <a:srgbClr val="F59E0B"/>
                </a:solidFill>
                <a:latin typeface="Calibri"/>
              </a:defRPr>
            </a:pPr>
            <a:r>
              <a:t>Connecting Database Architecture with Real-World BI &amp; Analytics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728655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1036289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0066FF"/>
                </a:solidFill>
                <a:latin typeface="Calibri"/>
              </a:defRPr>
            </a:pPr>
            <a:r>
              <a:t>🎓 Essential Lessons for Data Analytics Students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1. Relational Integrity: Foreign key constraints ensure data consistency across complex multi-table workflows.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2. Central Hub Pattern: 'users', 'batches', and 'courses' form the core backbone of all sub-modules.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3. Domain-Driven Analytics: Organizing database tables into functional domains simplifies dashboard design.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4. Actionable Insights: Raw transactional tables (logs, marks, fees) drive strategic business decisions.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5. Complete Presentation &amp; Reference guide available in workspace file: LMS_DATA_ARCHITECTURE_AND_FLOW.md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