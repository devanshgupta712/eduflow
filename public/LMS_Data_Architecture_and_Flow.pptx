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37160" cy="2926080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92024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LMS DATA ARCHITECTURE &amp; SYSTEM FLOW</a:t>
            </a:r>
          </a:p>
          <a:p>
            <a:pPr>
              <a:spcBef>
                <a:spcPts val="1200"/>
              </a:spcBef>
              <a:defRPr sz="2000">
                <a:solidFill>
                  <a:srgbClr val="F59E0B"/>
                </a:solidFill>
                <a:latin typeface="Calibri"/>
              </a:defRPr>
            </a:pPr>
            <a:r>
              <a:t>End-to-End Business Pipeline &amp; 22-Table Relational Schema for Data Analytics</a:t>
            </a:r>
          </a:p>
          <a:p>
            <a:pPr>
              <a:spcBef>
                <a:spcPts val="24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Target Audience: Data Analytics &amp; Engineering Students | System: AppTechno LMS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1. Executive Summary &amp; EdTech Data Analytics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Why Data Analytics Students Need to Understand LMS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66FF"/>
                </a:solidFill>
                <a:latin typeface="Calibri"/>
              </a:defRPr>
            </a:pPr>
            <a:r>
              <a:t>🎯 Purpose of an Enterprise LMS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Automates the complete student lifecycle from initial inquiry to job placement.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Generates multi-dimensional business data across marketing, finance, academics, and recruitment.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Provides real-world datasets ideal for building Business Intelligence (BI) dashboards.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Requires scalable relational database schemas to ensure transactional consistency.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📈 Key Data Analytics Domain Scope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Marketing &amp; Sales Funnel: Prospect conversion &amp; marketing ROI.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Financial Analytics: Revenue realization &amp; fee collection efficiency.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Academic &amp; Engagement: Attendance tracking &amp; churn prediction.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Evaluation Analytics: Exam performance &amp; weekly trainer feedback.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Career Analytics: Mock interview readiness &amp; placement conversion.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2. End-to-End Student Lifecycle Data Pipeline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5 Key Phases of Data Generation in an Enterprise LMS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011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645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66FF"/>
                </a:solidFill>
                <a:latin typeface="Calibri"/>
              </a:defRPr>
            </a:pPr>
            <a:r>
              <a:t>Phase 1: Marketing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Lead capture from Ads/Referrals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Touchpoint logs (Calls/Emails)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Lead conversion to Student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463040"/>
            <a:ext cx="2011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600200"/>
            <a:ext cx="1645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Phase 2: Finance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Course &amp; batch selection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Tuition fee tracking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Receipt &amp; document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463040"/>
            <a:ext cx="2011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600200"/>
            <a:ext cx="1645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Phase 3: Operations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Daily QR/Geo attendance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Time tracking portal logs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Leave request &amp; quota audit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463040"/>
            <a:ext cx="2011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0" y="1600200"/>
            <a:ext cx="1645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66FF"/>
                </a:solidFill>
                <a:latin typeface="Calibri"/>
              </a:defRPr>
            </a:pPr>
            <a:r>
              <a:t>Phase 4: Learning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Project &amp; task ticketing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Video lecture views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Assessments &amp; weekly feedback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463040"/>
            <a:ext cx="2011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0" y="1600200"/>
            <a:ext cx="1645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Phase 5: Placement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Mock interview scores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Verbal communication drills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Job application funnel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3. System Roles &amp; Access Matrix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Role-Based Access Control (RBAC) &amp; Data Access Boundaries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66FF"/>
                </a:solidFill>
                <a:latin typeface="Calibri"/>
              </a:defRPr>
            </a:pPr>
            <a:r>
              <a:t>SUPER_ADMIN / ADMIN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Full system governance, course/batch creation, fee setup, leave approvals, user permissions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B981"/>
                </a:solidFill>
                <a:latin typeface="Calibri"/>
              </a:defRPr>
            </a:pPr>
            <a:r>
              <a:t>TRAINER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Batch management, project/task assignment, attendance tracking, assessment grading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9E0B"/>
                </a:solidFill>
                <a:latin typeface="Calibri"/>
              </a:defRPr>
            </a:pPr>
            <a:r>
              <a:t>MARKETER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Lead generation, prospect follow-ups (Calls/Emails/WhatsApp), registration conversion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66FF"/>
                </a:solidFill>
                <a:latin typeface="Calibri"/>
              </a:defRPr>
            </a:pPr>
            <a:r>
              <a:t>STUDENT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Class attendance, portal time logging, assignment submissions, tests, job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4. Relational Database Schema (Part 1: Core, Marketing, Finance)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22 Tables Grouped into Functional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66FF"/>
                </a:solidFill>
                <a:latin typeface="Calibri"/>
              </a:defRPr>
            </a:pPr>
            <a:r>
              <a:t>Module A: Users &amp; RBAC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users: Account master (email, role, phone, studentId)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admin_permissions: Granular administrative flags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Module B: Courses &amp; Batches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courses: Master course catalog &amp; base tuition fees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batches: Academic cohorts, schedules &amp; trainer assignment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batch_students: Junction table mapping student enrollments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Module C: Marketing Funnel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leads: Prospect pipeline (source, status, assignee)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lead_activities: Sales touchpoint log (calls, emails)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66FF"/>
                </a:solidFill>
                <a:latin typeface="Calibri"/>
              </a:defRPr>
            </a:pPr>
            <a:r>
              <a:t>Module D: Finance &amp; Admissions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registrations: Fee tracking (feeAmount, feePaid, receipt)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documents: Student KYC uploads &amp; admin verification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5. Relational Database Schema (Part 2: Ops, Academics, Career)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Attendance, Evaluation &amp; Placement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66FF"/>
                </a:solidFill>
                <a:latin typeface="Calibri"/>
              </a:defRPr>
            </a:pPr>
            <a:r>
              <a:t>Module E: Attendance &amp; Time Logs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attendance: Daily class QR/Geo attendance records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leave_requests: Leave applications, proof URLs &amp; status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time_tracking: Lab portal active duration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Module F: Projects &amp; Content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projects: Capstone &amp; module projects per batch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tasks: Task tickets per student &amp; plagiarism flags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videos: Lecture recordings &amp; timeline chapters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Module G: Evaluation Engine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assessments: Exam master (Coding &amp; Aptitude tests)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assessment_submissions: Student test scores &amp; answers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feedback: Weekly ratings for batch &amp; trainer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66FF"/>
                </a:solidFill>
                <a:latin typeface="Calibri"/>
              </a:defRPr>
            </a:pPr>
            <a:r>
              <a:t>Module H: Placement &amp; Career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jobs: Corporate hiring drives &amp; salary packages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job_applications: Recruitment funnel stage tracking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mock_interviews &amp; communication_practice: Drill scores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6. Data Analytics Project 1: Lead Conversion Funnel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Evaluating Marketing Channels &amp; Sales Productivity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66FF"/>
                </a:solidFill>
                <a:latin typeface="Calibri"/>
              </a:defRPr>
            </a:pPr>
            <a:r>
              <a:t>📋 Project Specifications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Primary Tables: leads, lead_activities, registrations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Goal: Measure marketing ROI and sales conversion efficiency.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Analytical Focus: Tracking lead journeys from NEW to CONVERTED.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Business Impact: Optimizing marketing spend on high-performing channels.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💡 Key KPIs &amp; Analytics Questions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1. Lead Conversion Rate (LCR) by Source (Google Ads vs LinkedIn vs Referral).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2. Marketer Sales Productivity: Conversion % per assigned sales rep.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3. Average Touchpoints: Number of calls/emails needed before student registration.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4. Drop-off Analysis: High-loss stages in the marketing funnel.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7. Data Analytics Project 2: Student Churn Prediction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Predictive Analytics for Academic Retention &amp; Early Intervention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66FF"/>
                </a:solidFill>
                <a:latin typeface="Calibri"/>
              </a:defRPr>
            </a:pPr>
            <a:r>
              <a:t>📊 Metric Formulas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Attendance Percentage = (Count of PRESENT / Total Batch Days) * 100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Task Overdue Rate = (Count of OVERDUE Tasks / Total Assigned Tasks) * 100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Primary Tables: attendance, tasks, leave_requests, feedback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Goal: Identify at-risk students before course abandonment.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🎯 Churn Risk Rules &amp; Actions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High Risk Threshold: Attendance &lt; 75% AND Overdue Tasks &gt; 30%.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Early Warning Indicator: Consistently low weekly feedback rating (&lt; 3 stars).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Intervention Trigger: Automated alert to batch trainers and academic advisors.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Outcome: Increased course completion rate and student success.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8. Data Analytics Project 3: Revenue &amp; Fee Realization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Financial Analytics &amp; Tuition Collection Efficiency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💰 Revenue Metrics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Total Agreed Tuition Revenue = SUM(feeAmount)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Collected Cash Realization = SUM(feePaid)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Outstanding Fee Balance = SUM(feeAmount - feePaid)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Collection Efficiency % = (Total Fee Paid / Total Fee Amount) * 100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Primary Tables: registrations, courses, batches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66FF"/>
                </a:solidFill>
                <a:latin typeface="Calibri"/>
              </a:defRPr>
            </a:pPr>
            <a:r>
              <a:t>📈 BI Dashboard Questions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1. Which course generates the highest gross revenue per batch?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2. What is the total uncollected fee balance across active batches?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3. Fee payment delinquency trends by student enrollment month.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4. Revenue realization forecasting for upcoming batch end-dates.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9. Analytics Projects 4 &amp; 5: Quality &amp; Career Funnel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Faculty Evaluation &amp; Job Placement Readiness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⭐ Project 4: Trainer Satisfaction Index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Primary Tables: feedback, batches, users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Metric: Weekly 1 to 5 star rating average per trainer.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NLP Sentiment Analysis: Text mining qualitative comments in feedback.comments.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Goal: Ensuring consistent teaching quality across cohorts.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💼 Project 5: Placement Funnel Performance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Primary Tables: job_applications, jobs, mock_interviews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Metric: Correlation between Mock Score (&gt;80) and Job Selection.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Recruitment Funnel Conversion %: APPLIED -&gt; SHORTLISTED -&gt; INTERVIEW -&gt; SELECTED.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Goal: Maximizing corporate hiring rates for students.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10. Summary &amp; Key Takeaways for Students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Connecting Database Architecture with Real-World BI &amp;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66FF"/>
                </a:solidFill>
                <a:latin typeface="Calibri"/>
              </a:defRPr>
            </a:pPr>
            <a:r>
              <a:t>🎓 Essential Lessons for Data Analytics Students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1. Relational Integrity: Foreign key constraints ensure data consistency across complex multi-table workflows.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2. Domain-Driven Analytics: Organizing database tables into functional domains simplifies dashboard design.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3. Actionable Insights: Raw transactional tables (logs, marks, fees) drive strategic business decisions.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4. Industry Relevance: Understanding LMS schema prepares students for EdTech, SaaS, and Corporate Analytics roles.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5. Complete Presentation &amp; Reference guide available in workspace file: LMS_DATA_ARCHITECTURE_AND_FLOW.md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