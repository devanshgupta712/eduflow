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011680"/>
            <a:ext cx="137160" cy="2926080"/>
          </a:xfrm>
          <a:prstGeom prst="rect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92024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LMS SYSTEM DATA FLOW &amp; ARCHITECTURE</a:t>
            </a:r>
          </a:p>
          <a:p>
            <a:pPr>
              <a:spcBef>
                <a:spcPts val="1200"/>
              </a:spcBef>
              <a:defRPr sz="1900">
                <a:solidFill>
                  <a:srgbClr val="F59E0B"/>
                </a:solidFill>
                <a:latin typeface="Calibri"/>
              </a:defRPr>
            </a:pPr>
            <a:r>
              <a:t>End-to-End Table Data Flow, ER Connections &amp; 22-Table Relational Model for Students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Target Audience: Data Analytics &amp; Engineering Students | System: AppTechno 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1. Executive Summary &amp; EdTech Data Analytics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Why Data Analytics Students Need to Understand LMS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🎯 Purpose of an Enterprise LMS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Automates the complete student lifecycle from initial inquiry to job placement.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Generates multi-dimensional business data across marketing, finance, academics, and recruitment.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Provides real-world datasets ideal for building Business Intelligence (BI) dashboards.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Requires scalable relational database schemas to ensure transactional consistency.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📈 Key Data Analytics Domain Scope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Marketing &amp; Sales Funnel: Prospect conversion &amp; marketing ROI.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Financial Analytics: Revenue realization &amp; fee collection efficiency.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Academic &amp; Engagement: Attendance tracking &amp; churn prediction.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Evaluation Analytics: Exam performance &amp; weekly trainer feedback.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Career Analytics: Mock interview readiness &amp; placement conversion.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2. Complete Step-by-Step Table Data Flow Diagram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How Data Flows sequentially through Database Tables in 6 Business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FF"/>
                </a:solidFill>
                <a:latin typeface="Calibri"/>
              </a:defRPr>
            </a:pPr>
            <a:r>
              <a:t>1. INQUIRY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leads</a:t>
            </a:r>
            <a:br/>
            <a:r>
              <a:t>lead_activities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Prospect registers interest. Calls &amp; emails logged.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2. ADMISSION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users</a:t>
            </a:r>
            <a:br/>
            <a:r>
              <a:t>registrations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Lead converts to User. Fee payment recorded.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3. COHORT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courses, batches</a:t>
            </a:r>
            <a:br/>
            <a:r>
              <a:t>batch_students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Student assigned to course batch cohort.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59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FF"/>
                </a:solidFill>
                <a:latin typeface="Calibri"/>
              </a:defRPr>
            </a:pPr>
            <a:r>
              <a:t>4. DAILY OPS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attendance</a:t>
            </a:r>
            <a:br/>
            <a:r>
              <a:t>time_tracking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Daily QR login hours &amp; portal time logged.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9333EA"/>
                </a:solidFill>
                <a:latin typeface="Calibri"/>
              </a:defRPr>
            </a:pPr>
            <a:r>
              <a:t>5. LEARNING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projects, tasks</a:t>
            </a:r>
            <a:br/>
            <a:r>
              <a:t>assessments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Tasks submitted, exams scored, feedback recorded.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463040"/>
            <a:ext cx="1600200" cy="4754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600200"/>
            <a:ext cx="1417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6. CAREER</a:t>
            </a:r>
          </a:p>
          <a:p>
            <a:br/>
            <a:pPr algn="ctr">
              <a:defRPr sz="1100" b="1">
                <a:solidFill>
                  <a:srgbClr val="0F172A"/>
                </a:solidFill>
                <a:latin typeface="Calibri"/>
              </a:defRPr>
            </a:pPr>
            <a:r>
              <a:t>[ Tables ]</a:t>
            </a:r>
            <a:br/>
            <a:r>
              <a:t>mock_interviews</a:t>
            </a:r>
            <a:br/>
            <a:r>
              <a:t>job_applications</a:t>
            </a:r>
          </a:p>
          <a:p>
            <a:br/>
            <a:pPr algn="ctr">
              <a:defRPr sz="1050">
                <a:solidFill>
                  <a:srgbClr val="1E293B"/>
                </a:solidFill>
                <a:latin typeface="Calibri"/>
              </a:defRPr>
            </a:pPr>
            <a:r>
              <a:t>Mock scores logged &amp; job selection tracked.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3. Table-to-Table Data Transition Pipeline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Data Inputs &amp; Outputs Passing Between Interconnected Database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FF"/>
                </a:solidFill>
                <a:latin typeface="Calibri"/>
              </a:defRPr>
            </a:pPr>
            <a:r>
              <a:t>Input Stage 1: Lead Capture   |   leads (leadId) ➔ lead_activities (activityId)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Marketers capture lead details. Every call/email adds a row in lead_activities referencing leadId.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Transition Stage 2: Enrollment   |   leads ➔ users (userId) ➔ registrations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When lead status changes to CONVERTED, a new record is created in users. Fees logged in registrations.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Execution Stage 3: Training   |   users ➔ batch_students ➔ attendance &amp; tasks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Student userId is mapped to batchId. Daily attendance logs &amp; task progress link to userId &amp; batchId.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Calibri"/>
              </a:defRPr>
            </a:pPr>
            <a:r>
              <a:t>Evaluation Stage 4: Assessments   |   users ➔ assessment_submissions &amp; feedback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Exams taken create records in assessment_submissions. Weekly ratings recorded in feedback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Calibri"/>
              </a:defRPr>
            </a:pPr>
            <a:r>
              <a:t>Outcome Stage 5: Job Hiring   |   users ➔ mock_interviews ➔ job_applications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Mock interviews prepare students. Job applications track status from APPLIED to SELECTED.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4. Central Table Connection Architecture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The 3 Primary Hub Entities Connecting All 22 System Tables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👤 HUB 1: 'users' Table</a:t>
            </a:r>
            <a:br/>
            <a:r>
              <a:t>(Central Entity)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admin_permissions (1:1)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batch_students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registrations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documents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attendance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leave_requests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time_tracking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tasks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assessment_submissions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feedback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leads &amp; lead_activities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job_applications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mock_interviews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communication_practice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notifications &amp; messages (1:N)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6864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👥 HUB 2: 'batches' Table</a:t>
            </a:r>
            <a:br/>
            <a:r>
              <a:t>(Academic Cohort Hub)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courses (N:1 -&gt; courseId)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users (N:1 -&gt; trainerId)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batch_students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registrations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attendance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leave_requests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projects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videos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feedback (1:N)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65592" y="1463040"/>
            <a:ext cx="32918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8471" y="160020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📚 HUB 3: 'courses' &amp; Sub-Hubs</a:t>
            </a:r>
            <a:br/>
            <a:r>
              <a:t>(Catalog &amp; Core Sub-Entities)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courses -&gt; batches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courses -&gt; registrations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courses -&gt; assessments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projects -&gt; tasks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leads -&gt; lead_activities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assessments -&gt; submissions (1:N)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jobs -&gt; job_applications (1:N)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5. Complete Foreign Key (FK) Connection Map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Explicit Mapping of All Foreign Keys Across All 22 Database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4967935"/>
              </a:tblGrid>
              <a:tr h="44888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Child Table (FK Owner)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Foreign Key (FK Column)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Referenced Parent Table &amp; Key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admin_permissions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 (1:1 cascade delete)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courseId, trainerId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courses.id, users.id (Trainer)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batch_students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batchId, studentId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batches.id, users.id (Enrollment junction)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assignedToId, createdById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 (Marketer / Creator)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lead_activities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leadId, userId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leads.id, users.id (Touchpoint logs)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registrations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studentId, courseId, batchId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users.id, courses.id, batches.id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attendance &amp; leaves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studentId/userId, batchId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users.id, batches.id (Daily ops &amp; approvals)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tasks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projectId, studentId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projects.id, users.id (Task ticketing)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assessment_submissions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assessmentId, studentId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assessments.id, users.id (Exam scores)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job_applications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jobId, studentId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jobs.id, users.id (Recruitment funnel)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6. Relational Database Schema (Part 1: Core, Marketing, Finance)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22 Tables Grouped into Functional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Module A: Users &amp; RBAC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users: Account master (email, role, phone, studentId)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admin_permissions: Granular administrative flags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Module B: Courses &amp; Batches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courses: Master course catalog &amp; base tuition fees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batches: Academic cohorts, schedules &amp; trainer assignment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batch_students: Junction table mapping student enrollments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Module C: Marketing Funnel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leads: Prospect pipeline (source, status, assignee)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lead_activities: Sales touchpoint log (calls, emails)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Module D: Finance &amp; Admissions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registrations: Fee tracking (feeAmount, feePaid, receipt)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documents: Student KYC uploads &amp; admin verification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7. Relational Database Schema (Part 2: Ops, Academics, Career)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Attendance, Evaluation &amp; Placement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Module E: Attendance &amp; Time Logs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attendance: Daily class QR/Geo attendance records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leave_requests: Leave applications, proof URLs &amp; status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time_tracking: Lab portal active duration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Module F: Projects &amp; Content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projects: Capstone &amp; module projects per batch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tasks: Task tickets per student &amp; plagiarism flags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videos: Lecture recordings &amp; timeline chapters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Module G: Evaluation Engine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assessments: Exam master (Coding &amp; Aptitude tests)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assessment_submissions: Student test scores &amp; answers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feedback: Weekly ratings for batch &amp; trainer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06908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Module H: Placement &amp; Career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jobs: Corporate hiring drives &amp; salary packages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job_applications: Recruitment funnel stage tracking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mock_interviews &amp; communication_practice: Drill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8. Data Analytics Project 1: Lead Conversion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Evaluating Marketing Channels &amp; Sales Productivity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📋 Project Specifications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Primary Tables: leads, lead_activities, registrations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Goal: Measure marketing ROI and sales conversion efficiency.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Analytical Focus: Tracking lead journeys from NEW to CONVERTED.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Business Impact: Optimizing marketing spend on high-performing channels.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💡 Key KPIs &amp; Analytics Questions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1. Lead Conversion Rate (LCR) by Source (Google Ads vs LinkedIn vs Referral).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2. Marketer Sales Productivity: Conversion % per assigned sales rep.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3. Average Touchpoints: Number of calls/emails needed before student registration.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4. Drop-off Analysis: High-loss stages in the marketing funnel.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9. Data Analytics Project 2: Student Churn Prediction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Predictive Analytics for Academic Retention &amp; Early Intervention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📊 Metric Formulas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Attendance Percentage = (Count of PRESENT / Total Batch Days) * 100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Task Overdue Rate = (Count of OVERDUE Tasks / Total Assigned Tasks) * 100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Primary Tables: attendance, tasks, leave_requests, feedback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Goal: Identify at-risk students before course abandonment.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🎯 Churn Risk Rules &amp; Actions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High Risk Threshold: Attendance &lt; 75% AND Overdue Tasks &gt; 30%.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Early Warning Indicator: Consistently low weekly feedback rating (&lt; 3 stars).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Intervention Trigger: Automated alert to batch trainers and academic advisors.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Outcome: Increased course completion rate and student success.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10. Data Analytics Project 3: Revenue &amp; Fee Realization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Financial Analytics &amp; Tuition Collection Efficiency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💰 Revenue Metrics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Total Agreed Tuition Revenue = SUM(feeAmount)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Collected Cash Realization = SUM(feePaid)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Outstanding Fee Balance = SUM(feeAmount - feePaid)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Collection Efficiency % = (Total Fee Paid / Total Fee Amount) * 100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Primary Tables: registrations, courses, batches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📈 BI Dashboard Questions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1. Which course generates the highest gross revenue per batch?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2. What is the total uncollected fee balance across active batches?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3. Fee payment delinquency trends by student enrollment month.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4. Revenue realization forecasting for upcoming batch end-dates.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11. Analytics Projects 4 &amp; 5: Quality &amp; Career Funnel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Faculty Evaluation &amp; Job Placement Readiness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  <a:latin typeface="Calibri"/>
              </a:defRPr>
            </a:pPr>
            <a:r>
              <a:t>⭐ Project 4: Trainer Satisfaction Index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Primary Tables: feedback, batches, users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Metric: Weekly 1 to 5 star rating average per trainer.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NLP Sentiment Analysis: Text mining qualitative comments in feedback.comments.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Goal: Ensuring consistent teaching quality across cohorts.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alibri"/>
              </a:defRPr>
            </a:pPr>
            <a:r>
              <a:t>💼 Project 5: Placement Funnel Performance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Primary Tables: job_applications, jobs, mock_interviews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Metric: Correlation between Mock Score (&gt;80) and Job Selection.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Recruitment Funnel Conversion %: APPLIED -&gt; SHORTLISTED -&gt; INTERVIEW -&gt; SELECTED.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Goal: Maximizing corporate hiring rates for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6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12. Summary &amp; Key Takeaways for Students</a:t>
            </a:r>
          </a:p>
          <a:p>
            <a:pPr>
              <a:defRPr sz="1300">
                <a:solidFill>
                  <a:srgbClr val="F59E0B"/>
                </a:solidFill>
                <a:latin typeface="Calibri"/>
              </a:defRPr>
            </a:pPr>
            <a:r>
              <a:t>Connecting Database Architecture with Real-World BI &amp;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066FF"/>
                </a:solidFill>
                <a:latin typeface="Calibri"/>
              </a:defRPr>
            </a:pPr>
            <a:r>
              <a:t>🎓 Essential Lessons for Data Analytics Students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1. Sequential Data Flow: Data moves in 6 distinct steps from Inquiry to Job Placement.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2. Table Transitions: Foreign keys (leadId, userId, batchId) connect tables sequentially.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3. Central Hub Pattern: 'users', 'batches', and 'courses' form the core backbone of all sub-modules.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4. Actionable Insights: Raw transactional tables (logs, marks, fees) drive strategic business decisions.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5. Complete Presentation &amp; Reference guide available in workspace file: LMS_DATA_ARCHITECTURE_AND_FLOW.md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